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5.xml" ContentType="application/vnd.openxmlformats-officedocument.presentationml.notesSlide+xml"/>
  <Override PartName="/ppt/charts/chart8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Aantal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Beeldschermwerk</c:v>
                </c:pt>
                <c:pt idx="1">
                  <c:v>Nachtwerk</c:v>
                </c:pt>
                <c:pt idx="2">
                  <c:v>Ioniserende straling</c:v>
                </c:pt>
                <c:pt idx="3">
                  <c:v>Geluid</c:v>
                </c:pt>
                <c:pt idx="4">
                  <c:v>Lasten hanteren</c:v>
                </c:pt>
                <c:pt idx="5">
                  <c:v>Biologische agentia</c:v>
                </c:pt>
                <c:pt idx="6">
                  <c:v>Chemische stoffen</c:v>
                </c:pt>
                <c:pt idx="7">
                  <c:v>Voertuig besturen</c:v>
                </c:pt>
                <c:pt idx="8">
                  <c:v>Psychosociale risicos</c:v>
                </c:pt>
                <c:pt idx="9">
                  <c:v>Extreme temperaturen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94380</c:v>
                </c:pt>
                <c:pt idx="1">
                  <c:v>58200</c:v>
                </c:pt>
                <c:pt idx="2">
                  <c:v>41700</c:v>
                </c:pt>
                <c:pt idx="3">
                  <c:v>37400</c:v>
                </c:pt>
                <c:pt idx="4">
                  <c:v>31200</c:v>
                </c:pt>
                <c:pt idx="5">
                  <c:v>28900</c:v>
                </c:pt>
                <c:pt idx="6">
                  <c:v>24500</c:v>
                </c:pt>
                <c:pt idx="7">
                  <c:v>21800</c:v>
                </c:pt>
                <c:pt idx="8">
                  <c:v>18600</c:v>
                </c:pt>
                <c:pt idx="9">
                  <c:v>15300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DD-462F-BCB9-BD02C6F41E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Aantal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M54.5 — Lage rugpijn</c:v>
                </c:pt>
                <c:pt idx="1">
                  <c:v>H52.1 — Myopie</c:v>
                </c:pt>
                <c:pt idx="2">
                  <c:v>H52.4 — Presbyopie</c:v>
                </c:pt>
                <c:pt idx="3">
                  <c:v>J06.9 — Luchtweginf.</c:v>
                </c:pt>
                <c:pt idx="4">
                  <c:v>M54.4 — Lumbago-ischias</c:v>
                </c:pt>
                <c:pt idx="5">
                  <c:v>H10.9 — Conjunctivitis</c:v>
                </c:pt>
                <c:pt idx="6">
                  <c:v>F32.0 — Depressieve ep.</c:v>
                </c:pt>
                <c:pt idx="7">
                  <c:v>H52.2 — Astigmatisme</c:v>
                </c:pt>
                <c:pt idx="8">
                  <c:v>M79.3 — Panniculitis</c:v>
                </c:pt>
                <c:pt idx="9">
                  <c:v>J45.9 — Astma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41344</c:v>
                </c:pt>
                <c:pt idx="1">
                  <c:v>28700</c:v>
                </c:pt>
                <c:pt idx="2">
                  <c:v>22100</c:v>
                </c:pt>
                <c:pt idx="3">
                  <c:v>18500</c:v>
                </c:pt>
                <c:pt idx="4">
                  <c:v>16200</c:v>
                </c:pt>
                <c:pt idx="5">
                  <c:v>14800</c:v>
                </c:pt>
                <c:pt idx="6">
                  <c:v>12400</c:v>
                </c:pt>
                <c:pt idx="7">
                  <c:v>11600</c:v>
                </c:pt>
                <c:pt idx="8">
                  <c:v>9800</c:v>
                </c:pt>
                <c:pt idx="9">
                  <c:v>8700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62-4647-932A-259789BA0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Aantal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Beeldschermwerk × Myopie</c:v>
                </c:pt>
                <c:pt idx="1">
                  <c:v>Beeldschermwerk × Presbyopie</c:v>
                </c:pt>
                <c:pt idx="2">
                  <c:v>Beeldschermwerk × Lage rugpijn</c:v>
                </c:pt>
                <c:pt idx="3">
                  <c:v>Beeldschermwerk × Astigmatisme</c:v>
                </c:pt>
                <c:pt idx="4">
                  <c:v>Lasten hanteren × Lage rugpijn</c:v>
                </c:pt>
                <c:pt idx="5">
                  <c:v>Geluid × Gehoorverlies</c:v>
                </c:pt>
                <c:pt idx="6">
                  <c:v>Ioniserende str. × Schildkl.aandoen.</c:v>
                </c:pt>
                <c:pt idx="7">
                  <c:v>Nachtwerk × Slaapstoornis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24800</c:v>
                </c:pt>
                <c:pt idx="1">
                  <c:v>18600</c:v>
                </c:pt>
                <c:pt idx="2">
                  <c:v>17200</c:v>
                </c:pt>
                <c:pt idx="3">
                  <c:v>12400</c:v>
                </c:pt>
                <c:pt idx="4">
                  <c:v>11800</c:v>
                </c:pt>
                <c:pt idx="5">
                  <c:v>9600</c:v>
                </c:pt>
                <c:pt idx="6">
                  <c:v>6200</c:v>
                </c:pt>
                <c:pt idx="7">
                  <c:v>5800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EF-4369-BFE0-3B3EDBD54E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H52.1 Myopie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20–29</c:v>
                </c:pt>
                <c:pt idx="1">
                  <c:v>30–39</c:v>
                </c:pt>
                <c:pt idx="2">
                  <c:v>40–49</c:v>
                </c:pt>
                <c:pt idx="3">
                  <c:v>50–59</c:v>
                </c:pt>
                <c:pt idx="4">
                  <c:v>60–69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8200</c:v>
                </c:pt>
                <c:pt idx="1">
                  <c:v>6100</c:v>
                </c:pt>
                <c:pt idx="2">
                  <c:v>3800</c:v>
                </c:pt>
                <c:pt idx="3">
                  <c:v>1900</c:v>
                </c:pt>
                <c:pt idx="4">
                  <c:v>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41-4A54-9572-61B7402B99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H52.4 Presbyopie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20–29</c:v>
                </c:pt>
                <c:pt idx="1">
                  <c:v>30–39</c:v>
                </c:pt>
                <c:pt idx="2">
                  <c:v>40–49</c:v>
                </c:pt>
                <c:pt idx="3">
                  <c:v>50–59</c:v>
                </c:pt>
                <c:pt idx="4">
                  <c:v>60–69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200</c:v>
                </c:pt>
                <c:pt idx="1">
                  <c:v>1800</c:v>
                </c:pt>
                <c:pt idx="2">
                  <c:v>7200</c:v>
                </c:pt>
                <c:pt idx="3">
                  <c:v>9400</c:v>
                </c:pt>
                <c:pt idx="4">
                  <c:v>6100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41-4A54-9572-61B7402B997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M54.5 Lage rugp.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20–29</c:v>
                </c:pt>
                <c:pt idx="1">
                  <c:v>30–39</c:v>
                </c:pt>
                <c:pt idx="2">
                  <c:v>40–49</c:v>
                </c:pt>
                <c:pt idx="3">
                  <c:v>50–59</c:v>
                </c:pt>
                <c:pt idx="4">
                  <c:v>60–69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3100</c:v>
                </c:pt>
                <c:pt idx="1">
                  <c:v>6800</c:v>
                </c:pt>
                <c:pt idx="2">
                  <c:v>9200</c:v>
                </c:pt>
                <c:pt idx="3">
                  <c:v>7600</c:v>
                </c:pt>
                <c:pt idx="4">
                  <c:v>4200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E41-4A54-9572-61B7402B997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F32 Depressie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20–29</c:v>
                </c:pt>
                <c:pt idx="1">
                  <c:v>30–39</c:v>
                </c:pt>
                <c:pt idx="2">
                  <c:v>40–49</c:v>
                </c:pt>
                <c:pt idx="3">
                  <c:v>50–59</c:v>
                </c:pt>
                <c:pt idx="4">
                  <c:v>60–69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1800</c:v>
                </c:pt>
                <c:pt idx="1">
                  <c:v>3200</c:v>
                </c:pt>
                <c:pt idx="2">
                  <c:v>4100</c:v>
                </c:pt>
                <c:pt idx="3">
                  <c:v>3600</c:v>
                </c:pt>
                <c:pt idx="4">
                  <c:v>1900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E41-4A54-9572-61B7402B997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J06 Luchtweginf.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20–29</c:v>
                </c:pt>
                <c:pt idx="1">
                  <c:v>30–39</c:v>
                </c:pt>
                <c:pt idx="2">
                  <c:v>40–49</c:v>
                </c:pt>
                <c:pt idx="3">
                  <c:v>50–59</c:v>
                </c:pt>
                <c:pt idx="4">
                  <c:v>60–69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2900</c:v>
                </c:pt>
                <c:pt idx="1">
                  <c:v>3400</c:v>
                </c:pt>
                <c:pt idx="2">
                  <c:v>3800</c:v>
                </c:pt>
                <c:pt idx="3">
                  <c:v>3100</c:v>
                </c:pt>
                <c:pt idx="4">
                  <c:v>2200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E41-4A54-9572-61B7402B99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M54.5 Lage rugpijn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Lente</c:v>
                </c:pt>
                <c:pt idx="1">
                  <c:v>Zomer</c:v>
                </c:pt>
                <c:pt idx="2">
                  <c:v>Herfst</c:v>
                </c:pt>
                <c:pt idx="3">
                  <c:v>Winter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8900</c:v>
                </c:pt>
                <c:pt idx="1">
                  <c:v>9200</c:v>
                </c:pt>
                <c:pt idx="2">
                  <c:v>11400</c:v>
                </c:pt>
                <c:pt idx="3">
                  <c:v>11800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59-4985-8BDA-B4B314F7DD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J06.9 Luchtweginf.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Lente</c:v>
                </c:pt>
                <c:pt idx="1">
                  <c:v>Zomer</c:v>
                </c:pt>
                <c:pt idx="2">
                  <c:v>Herfst</c:v>
                </c:pt>
                <c:pt idx="3">
                  <c:v>Winter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7100</c:v>
                </c:pt>
                <c:pt idx="1">
                  <c:v>4200</c:v>
                </c:pt>
                <c:pt idx="2">
                  <c:v>8600</c:v>
                </c:pt>
                <c:pt idx="3">
                  <c:v>13800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59-4985-8BDA-B4B314F7DDE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H52.1 Myopie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Lente</c:v>
                </c:pt>
                <c:pt idx="1">
                  <c:v>Zomer</c:v>
                </c:pt>
                <c:pt idx="2">
                  <c:v>Herfst</c:v>
                </c:pt>
                <c:pt idx="3">
                  <c:v>Winter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6200</c:v>
                </c:pt>
                <c:pt idx="1">
                  <c:v>7100</c:v>
                </c:pt>
                <c:pt idx="2">
                  <c:v>6800</c:v>
                </c:pt>
                <c:pt idx="3">
                  <c:v>8600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059-4985-8BDA-B4B314F7DDE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F32 Depressie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Lente</c:v>
                </c:pt>
                <c:pt idx="1">
                  <c:v>Zomer</c:v>
                </c:pt>
                <c:pt idx="2">
                  <c:v>Herfst</c:v>
                </c:pt>
                <c:pt idx="3">
                  <c:v>Winter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2800</c:v>
                </c:pt>
                <c:pt idx="1">
                  <c:v>2100</c:v>
                </c:pt>
                <c:pt idx="2">
                  <c:v>3900</c:v>
                </c:pt>
                <c:pt idx="3">
                  <c:v>5200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059-4985-8BDA-B4B314F7DDE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A39 Meningokokken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Lente</c:v>
                </c:pt>
                <c:pt idx="1">
                  <c:v>Zomer</c:v>
                </c:pt>
                <c:pt idx="2">
                  <c:v>Herfst</c:v>
                </c:pt>
                <c:pt idx="3">
                  <c:v>Winter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150</c:v>
                </c:pt>
                <c:pt idx="1">
                  <c:v>62</c:v>
                </c:pt>
                <c:pt idx="2">
                  <c:v>152</c:v>
                </c:pt>
                <c:pt idx="3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059-4985-8BDA-B4B314F7DD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Beeldschermwerk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Ziekenhuisactiviteiten</c:v>
                </c:pt>
                <c:pt idx="1">
                  <c:v>Algemeen openbaar bestuur</c:v>
                </c:pt>
                <c:pt idx="2">
                  <c:v>Secundair onderwijs</c:v>
                </c:pt>
                <c:pt idx="3">
                  <c:v>Bankactiviteiten</c:v>
                </c:pt>
                <c:pt idx="4">
                  <c:v>Vervaardiging geneesmiddelen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38200</c:v>
                </c:pt>
                <c:pt idx="1">
                  <c:v>29100</c:v>
                </c:pt>
                <c:pt idx="2">
                  <c:v>21400</c:v>
                </c:pt>
                <c:pt idx="3">
                  <c:v>41800</c:v>
                </c:pt>
                <c:pt idx="4">
                  <c:v>12600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5F-4DAA-87FE-ACFF10A201B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Ioniserende str.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Ziekenhuisactiviteiten</c:v>
                </c:pt>
                <c:pt idx="1">
                  <c:v>Algemeen openbaar bestuur</c:v>
                </c:pt>
                <c:pt idx="2">
                  <c:v>Secundair onderwijs</c:v>
                </c:pt>
                <c:pt idx="3">
                  <c:v>Bankactiviteiten</c:v>
                </c:pt>
                <c:pt idx="4">
                  <c:v>Vervaardiging geneesmiddelen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14200</c:v>
                </c:pt>
                <c:pt idx="1">
                  <c:v>800</c:v>
                </c:pt>
                <c:pt idx="2">
                  <c:v>300</c:v>
                </c:pt>
                <c:pt idx="3">
                  <c:v>100</c:v>
                </c:pt>
                <c:pt idx="4">
                  <c:v>8900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5F-4DAA-87FE-ACFF10A201B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Nachtwerk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Ziekenhuisactiviteiten</c:v>
                </c:pt>
                <c:pt idx="1">
                  <c:v>Algemeen openbaar bestuur</c:v>
                </c:pt>
                <c:pt idx="2">
                  <c:v>Secundair onderwijs</c:v>
                </c:pt>
                <c:pt idx="3">
                  <c:v>Bankactiviteiten</c:v>
                </c:pt>
                <c:pt idx="4">
                  <c:v>Vervaardiging geneesmiddelen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12800</c:v>
                </c:pt>
                <c:pt idx="1">
                  <c:v>5400</c:v>
                </c:pt>
                <c:pt idx="2">
                  <c:v>800</c:v>
                </c:pt>
                <c:pt idx="3">
                  <c:v>2100</c:v>
                </c:pt>
                <c:pt idx="4">
                  <c:v>3200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5F-4DAA-87FE-ACFF10A201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Lage rugpijn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Ziekenhuisactiviteiten</c:v>
                </c:pt>
                <c:pt idx="1">
                  <c:v>Algemeen openbaar bestuur</c:v>
                </c:pt>
                <c:pt idx="2">
                  <c:v>Secundair onderwijs</c:v>
                </c:pt>
                <c:pt idx="3">
                  <c:v>Bankactiviteiten</c:v>
                </c:pt>
                <c:pt idx="4">
                  <c:v>Vervaardiging geneesmiddelen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9100</c:v>
                </c:pt>
                <c:pt idx="1">
                  <c:v>6800</c:v>
                </c:pt>
                <c:pt idx="2">
                  <c:v>5200</c:v>
                </c:pt>
                <c:pt idx="3">
                  <c:v>7600</c:v>
                </c:pt>
                <c:pt idx="4">
                  <c:v>3800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90-43F2-9C39-C3A34261C0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Myopie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Ziekenhuisactiviteiten</c:v>
                </c:pt>
                <c:pt idx="1">
                  <c:v>Algemeen openbaar bestuur</c:v>
                </c:pt>
                <c:pt idx="2">
                  <c:v>Secundair onderwijs</c:v>
                </c:pt>
                <c:pt idx="3">
                  <c:v>Bankactiviteiten</c:v>
                </c:pt>
                <c:pt idx="4">
                  <c:v>Vervaardiging geneesmiddelen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7200</c:v>
                </c:pt>
                <c:pt idx="1">
                  <c:v>5900</c:v>
                </c:pt>
                <c:pt idx="2">
                  <c:v>4800</c:v>
                </c:pt>
                <c:pt idx="3">
                  <c:v>8100</c:v>
                </c:pt>
                <c:pt idx="4">
                  <c:v>2900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90-43F2-9C39-C3A34261C0C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Presbyopie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Ziekenhuisactiviteiten</c:v>
                </c:pt>
                <c:pt idx="1">
                  <c:v>Algemeen openbaar bestuur</c:v>
                </c:pt>
                <c:pt idx="2">
                  <c:v>Secundair onderwijs</c:v>
                </c:pt>
                <c:pt idx="3">
                  <c:v>Bankactiviteiten</c:v>
                </c:pt>
                <c:pt idx="4">
                  <c:v>Vervaardiging geneesmiddelen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5800</c:v>
                </c:pt>
                <c:pt idx="1">
                  <c:v>4900</c:v>
                </c:pt>
                <c:pt idx="2">
                  <c:v>5600</c:v>
                </c:pt>
                <c:pt idx="3">
                  <c:v>6200</c:v>
                </c:pt>
                <c:pt idx="4">
                  <c:v>2200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890-43F2-9C39-C3A34261C0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B97.2 — Coronavirus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Q1-18</c:v>
                </c:pt>
                <c:pt idx="1">
                  <c:v>Q2-18</c:v>
                </c:pt>
                <c:pt idx="2">
                  <c:v>Q3-18</c:v>
                </c:pt>
                <c:pt idx="3">
                  <c:v>Q4-18</c:v>
                </c:pt>
                <c:pt idx="4">
                  <c:v>Q1-19</c:v>
                </c:pt>
                <c:pt idx="5">
                  <c:v>Q2-19</c:v>
                </c:pt>
                <c:pt idx="6">
                  <c:v>Q3-19</c:v>
                </c:pt>
                <c:pt idx="7">
                  <c:v>Q4-19</c:v>
                </c:pt>
                <c:pt idx="8">
                  <c:v>Q1-20</c:v>
                </c:pt>
                <c:pt idx="9">
                  <c:v>Q2-20</c:v>
                </c:pt>
                <c:pt idx="10">
                  <c:v>Q3-20</c:v>
                </c:pt>
                <c:pt idx="11">
                  <c:v>Q4-20</c:v>
                </c:pt>
                <c:pt idx="12">
                  <c:v>Q1-21</c:v>
                </c:pt>
                <c:pt idx="13">
                  <c:v>Q2-21</c:v>
                </c:pt>
                <c:pt idx="14">
                  <c:v>Q3-21</c:v>
                </c:pt>
                <c:pt idx="15">
                  <c:v>Q4-21</c:v>
                </c:pt>
                <c:pt idx="16">
                  <c:v>Q1-22</c:v>
                </c:pt>
                <c:pt idx="17">
                  <c:v>Q2-22</c:v>
                </c:pt>
                <c:pt idx="18">
                  <c:v>Q3-22</c:v>
                </c:pt>
                <c:pt idx="19">
                  <c:v>Q4-22</c:v>
                </c:pt>
                <c:pt idx="20">
                  <c:v>Q1-23</c:v>
                </c:pt>
                <c:pt idx="21">
                  <c:v>Q2-23</c:v>
                </c:pt>
                <c:pt idx="22">
                  <c:v>Q3-23</c:v>
                </c:pt>
                <c:pt idx="23">
                  <c:v>Q4-23</c:v>
                </c:pt>
                <c:pt idx="24">
                  <c:v>Q1-24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4</c:v>
                </c:pt>
                <c:pt idx="4">
                  <c:v>5</c:v>
                </c:pt>
                <c:pt idx="5">
                  <c:v>3</c:v>
                </c:pt>
                <c:pt idx="6">
                  <c:v>2</c:v>
                </c:pt>
                <c:pt idx="7">
                  <c:v>6</c:v>
                </c:pt>
                <c:pt idx="8">
                  <c:v>420</c:v>
                </c:pt>
                <c:pt idx="9">
                  <c:v>1840</c:v>
                </c:pt>
                <c:pt idx="10">
                  <c:v>380</c:v>
                </c:pt>
                <c:pt idx="11">
                  <c:v>2100</c:v>
                </c:pt>
                <c:pt idx="12">
                  <c:v>1920</c:v>
                </c:pt>
                <c:pt idx="13">
                  <c:v>680</c:v>
                </c:pt>
                <c:pt idx="14">
                  <c:v>520</c:v>
                </c:pt>
                <c:pt idx="15">
                  <c:v>1650</c:v>
                </c:pt>
                <c:pt idx="16">
                  <c:v>2200</c:v>
                </c:pt>
                <c:pt idx="17">
                  <c:v>580</c:v>
                </c:pt>
                <c:pt idx="18">
                  <c:v>210</c:v>
                </c:pt>
                <c:pt idx="19">
                  <c:v>490</c:v>
                </c:pt>
                <c:pt idx="20">
                  <c:v>180</c:v>
                </c:pt>
                <c:pt idx="21">
                  <c:v>90</c:v>
                </c:pt>
                <c:pt idx="22">
                  <c:v>60</c:v>
                </c:pt>
                <c:pt idx="23">
                  <c:v>120</c:v>
                </c:pt>
                <c:pt idx="24">
                  <c:v>55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6EF-4E90-86E6-BBBBB710DF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385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kern="0" spc="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Eindwerk Data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Medische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data-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Risico's &amp;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Pathologieën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32004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Maxime Mylle</a:t>
            </a:r>
            <a:r>
              <a:rPr lang="en-US" sz="13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Trustteam  ·  2025–2026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 1 </a:t>
            </a:r>
            <a:r>
              <a:rPr lang="en-US" sz="1100" dirty="0" err="1">
                <a:solidFill>
                  <a:srgbClr val="60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Datascience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0"/>
            <a:ext cx="36576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ben ik?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05088" y="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37490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Maxime Mylle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Trustteam — Software voor arbeidspreventiebureaus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965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Officiële functietitels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31343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0332" y="2532888"/>
            <a:ext cx="0" cy="4572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286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201168" cy="201168"/>
          </a:xfrm>
          <a:prstGeom prst="ellipse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0332" y="3191256"/>
            <a:ext cx="0" cy="4572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2944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Line Support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29443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63016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6027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34640" y="36027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0" y="868680"/>
            <a:ext cx="457200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297680" y="868680"/>
            <a:ext cx="64008" cy="4069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2628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ik écht doe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98848" y="13716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37760" y="1371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16276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opvolging, stakeholders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98848" y="203911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💻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37760" y="20391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22951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C#, SQL, JavaScript, Python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98848" y="27066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37760" y="27066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Functioneel &amp; tech. analyst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29626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specs, testplannen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98848" y="337413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🗄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937760" y="33741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migraties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3630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Server, datakwaliteit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498848" y="40416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937760" y="4041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UI-ontwikkeling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37760" y="42976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Iconen &amp; interfaces voor Pulse/H@W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0"/>
            <a:ext cx="36576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Pulse / H@W?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05088" y="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(ook gekend als H@W — Health @ Work) is softwaresysteem voor arbeidspreventiebureaus en medische diensten. Het beheert medische onderzoeken, risicoblootstelling en pathologieën van werknemers.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Bedrijven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13716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31089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Werkgevers registreren hun werknemers en hun blootstellingsrisico's per functie.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201168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0" y="2148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👷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8328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Werknemers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0" y="3017520"/>
            <a:ext cx="13716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37560" y="31089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werknemer worden risico's, medische onderzoeken en vastgestelde pathologieën bijgehouden.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201168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2148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🩺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30936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Medisch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66560" y="3017520"/>
            <a:ext cx="13716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63640" y="31089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Artsen en verpleegkundigen gebruiken Pulse om onderzoeken af te nemen en diagnoses te registreren.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Gebruikt door arbeidspreventiebureaus zoals Mensura, Securex, Cohezio en andere medische diensten in </a:t>
            </a:r>
            <a:r>
              <a:rPr lang="en-US" sz="9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België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DISCLAIMER  ⚠️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05088" y="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"Ik ben misschien iets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laat gestart met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mijn eindwerk..."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53035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64008" cy="1645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 arbeidsgeneesheer bij mij zou meten: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7490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Bloeddruk:</a:t>
            </a: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165 / 100 mmHg  (verhoogd)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Cortisol:</a:t>
            </a: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Waarden buiten schaal  📈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 Slaapuren:</a:t>
            </a: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4u  (referentie: ≥7u)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868680"/>
            <a:ext cx="28346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35040" y="10058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</a:rPr>
              <a:t>🩺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612648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Advies van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arbeidsgeneesheer: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24688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"Meneer Mylle,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begint u voortaan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iets vroeger."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37490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Conclusie: deadlines zijn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 een beroepsrisico. 😅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0"/>
            <a:ext cx="36576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zijn Risico's?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05088" y="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374904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64008" cy="4069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25272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risico is een gevaar of blootstelling waarmee een werknemer in aanraking komt door zijn beroepssituatie. Risico's worden per tewerkstelling geregistreerd in Pulse.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30175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Voorbeelden van risico's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57860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Beeldschermwerk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90779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Geluid / lawaai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23697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☢  Ioniserende straling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5661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Chemische stoffen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89534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Manueel hanteren van lasten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22452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  Extreme temperaturen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0" y="80467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meest voorkomende risico's (alle jaren)</a:t>
            </a:r>
            <a:endParaRPr lang="en-US" sz="10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4160520" y="1115568"/>
          <a:ext cx="470916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0"/>
            <a:ext cx="36576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zijn Pathologieën?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05088" y="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374904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64008" cy="4069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25272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pathologie is een medisch vastgestelde aandoening of ziekte bij een werknemer. Ze worden gecodeerd via de ICD-10 standaard en geregistreerd bij medische onderzoeken.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30175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 — Internationale classificatie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57860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M54.5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25880" y="25786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 rugpijn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9260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H52.1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25880" y="2926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Myopie (bijziendheid)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2735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H52.4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25880" y="32735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Presbyopie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62102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J06.9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25880" y="36210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bovenste luchtweginf.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96849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F41.1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25880" y="396849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Gegeneraliseerde angststoornis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06240" y="80467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meest voorkomende pathologieën (alle jaren)</a:t>
            </a:r>
            <a:endParaRPr lang="en-US" sz="10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4160520" y="1115568"/>
          <a:ext cx="470916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0"/>
            <a:ext cx="36576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 Onderworpenheid — SIG · SIA · SIR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05088" y="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basis van geregistreerde risico's wordt de categorie bepaald die aangeeft hoe vaak een werknemer medisch onderzocht moet worden.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201168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20116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Info Générale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1828800" cy="347472"/>
          </a:xfrm>
          <a:prstGeom prst="rect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4871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de 5 jaar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907792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Laagste prioriteit. Werknemers zonder specifiek verhoogd risico worden om de 5 jaar opgevolgd.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50592" y="1371600"/>
            <a:ext cx="20116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50592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450592" y="1874520"/>
            <a:ext cx="20116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42032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Info Approfondie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42032" y="2468880"/>
            <a:ext cx="1828800" cy="347472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42032" y="24871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de 3 jaar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42032" y="2907792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Werknemers met een matig risico vereisen een grondigere opvolging om de 3 jaar.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26864" y="1371600"/>
            <a:ext cx="201168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26864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SIR2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26864" y="1874520"/>
            <a:ext cx="20116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18304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Info </a:t>
            </a:r>
            <a:r>
              <a:rPr lang="en-US" sz="900" b="1" dirty="0" err="1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Renforcée</a:t>
            </a:r>
            <a:r>
              <a:rPr lang="en-US" sz="9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18304" y="2468880"/>
            <a:ext cx="1828800" cy="347472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18304" y="24871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de 2 jaar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18304" y="2907792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Verhoogd risico. Intensievere monitoring om de 2 jaar.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03136" y="1371600"/>
            <a:ext cx="2011680" cy="5029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03136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SIR1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803136" y="1874520"/>
            <a:ext cx="20116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94576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Info </a:t>
            </a:r>
            <a:r>
              <a:rPr lang="en-US" sz="900" b="1" dirty="0" err="1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Renforcée</a:t>
            </a:r>
            <a:r>
              <a:rPr lang="en-US" sz="9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94576" y="2468880"/>
            <a:ext cx="1828800" cy="347472"/>
          </a:xfrm>
          <a:prstGeom prst="rect">
            <a:avLst/>
          </a:prstGeom>
          <a:solidFill>
            <a:srgbClr val="991B1B">
              <a:alpha val="15000"/>
            </a:srgbClr>
          </a:solidFill>
          <a:ln w="12700">
            <a:solidFill>
              <a:srgbClr val="991B1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94576" y="24871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Jaarlijks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94576" y="2907792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Hoogste prioriteit. Jaarlijkse opvolging voor werknemers met een ernstig risico (bv. ioniserende straling).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Laag risico  ──────────────────────────────────────────  Hoog risico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0"/>
            <a:ext cx="36576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Thesaurussen — Gestandaardiseerde Codes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05088" y="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Risico's en pathologieën worden gecodeerd via internationale standaarden. Dit maakt het mogelijk om datasets van meerdere medische diensten samen te voegen en te vergelijken.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1148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41148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Risico-thesaurus (PRESANSE -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Frankrijk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Interne coderingen per arbeidspreventiebedrijf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Bv. K.A.01 = Beeldschermwerk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Gestandaardiseerd zodat alle diensten dezelfde codes gebruiken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Maakt sectorvergelijking mogelijk (NACE × risico)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Dataset bevat 2 345 unieke risico-codes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417320"/>
            <a:ext cx="41148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417320"/>
            <a:ext cx="411480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14173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ICD-10 (internationaal)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1031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International Classification of Diseases — versie 10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6060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WHO-standaard, wereldwijd gebruikt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310896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Bv. M54.5 = Lage rugpijn, H52.1 = Myopie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61188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Maakt koppeling met andere medische datasets mogelijk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41148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Dataset bevat 5 864 unieke ICD-10 codes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Meerwaarde voor de toekomst: door gestandaardiseerde codes kunnen meerdere medische diensten hun data samenvoegen voor grotere, betrouwbaardere analyses.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0"/>
            <a:ext cx="36576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Hoe de data tot stand is gekomen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05088" y="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Databronnen (MS SQL Server)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61288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2161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GENEmployees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377440" y="1216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Werknemers (geslacht, geboortedatum)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609344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664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GENEmployeesCustomers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377440" y="1664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Tewerkstelling per bedrijf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057400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1122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GENCustomers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377440" y="2112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Klant-bedrijven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505456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560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HAWCustomers + NACE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37744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NACE-sector van bedrijf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953512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008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HAWRisks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377440" y="3008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Risico's definitie + codes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401568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34564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HAWEmploymentRisks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377440" y="3456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 per tewerkstelling (+ periode)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849624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39044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HAWEmployeesClinical…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377440" y="3904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Medische onderzoeken + diagnose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4297680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" y="435254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HAWICPC2Codes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377440" y="43525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 pathologie-codes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480560" y="804672"/>
            <a:ext cx="443484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480560" y="804672"/>
            <a:ext cx="4434840" cy="384048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0" y="8046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— vereenvoudigd uittreksel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80560" y="1188720"/>
            <a:ext cx="4434840" cy="3730752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0" y="1207008"/>
            <a:ext cx="4251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0" y="1440180"/>
            <a:ext cx="4251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employee_sex,  employee_birthdate,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0" y="1673352"/>
            <a:ext cx="4251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nace_code,  employment_startdate,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0" y="1906524"/>
            <a:ext cx="4251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risk_code,  risk_startdate,  risk_enddate,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0" y="2139696"/>
            <a:ext cx="4251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pathology_icd10code,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72000" y="2372868"/>
            <a:ext cx="4251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pathology_startdate, pathology_enddate,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0" y="2606040"/>
            <a:ext cx="4251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DATEDIFF(yy, birthdate, startdate) AS leeftijd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572000" y="2839212"/>
            <a:ext cx="4251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GENEmployeesCustomers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0" y="3072384"/>
            <a:ext cx="4251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genemployees ON …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0" y="3305556"/>
            <a:ext cx="4251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hawcustomers ON …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0" y="3538728"/>
            <a:ext cx="4251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 JOIN Nace ON …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0" y="3771900"/>
            <a:ext cx="4251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HAWEmploymentRisks ON …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572000" y="4005072"/>
            <a:ext cx="4251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HAWRisks ON …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572000" y="4238244"/>
            <a:ext cx="4251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HAWEmployeesClinical… ON …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72000" y="4471416"/>
            <a:ext cx="4251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 JOIN HAWICPC2Codes ON …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0"/>
            <a:ext cx="36576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opkuisen — Ongeldige codes wegfilteren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05088" y="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datamigratiesfouten in het verleden bevatten sommige rijen codes die geen echte risico-blootstelling voorstellen. Deze worden bij het inlezen weggefilterd.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5120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64008" cy="3474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verwijderen risico-codes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463040" y="187452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63040" y="187452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23160" y="187452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23160" y="187452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83280" y="187452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0" y="187452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SIR1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43400" y="187452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43400" y="187452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SIR2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237744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237744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SIG_DECL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463040" y="237744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463040" y="237744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SIA_DECL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23160" y="237744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423160" y="237744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SIR_DECL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83280" y="237744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83280" y="237744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43400" y="237744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43400" y="237744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SIR2_décl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2944368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Reden: dit zijn administratieve markeringen van het onderzoekcategorie-systeem, geen echte gevaren op de werkvloer. Ze werden tijdens vroegere datamigratieprojecten abusievelijk als risico-codes opgeslagen.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577840" y="1371600"/>
            <a:ext cx="32918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577840" y="1371600"/>
            <a:ext cx="64008" cy="3474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806440" y="14630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opkuising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06440" y="19202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1 254 667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806440" y="23774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rijen vóór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06440" y="29077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970 917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806440" y="33649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rijen ná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06440" y="389534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283 750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806440" y="435254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verwijderd (22,6%)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48006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Overige opkuisstappen: ICD-10 spaties strippen · datums parsen · leeftijdsgroepen aanmaken · seizoenen berekenen · ongeldige leeftijden markeren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0"/>
            <a:ext cx="36576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Resultaten — Correlaties Risico &amp; Pathologie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05088" y="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meest voorkomende risico–pathologie combinaties tonen logische medische verbanden.</a:t>
            </a:r>
            <a:endParaRPr lang="en-US" sz="10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18872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760720" y="1188720"/>
            <a:ext cx="31546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760720" y="1188720"/>
            <a:ext cx="64008" cy="3749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89320" y="128016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89320" y="16916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🖥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327648" y="1691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Beeldschermwerk is het meest voorkomende risico en correleert sterk met zichtproblemen.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89320" y="229514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👁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327648" y="229514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Myopie bij jongeren en presbyopie bij ouderen — beide gelinkt aan schermwerk.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89320" y="289864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🏋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27648" y="289864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Manuele arbeid (lasten) → lage rugpijn is een verwacht en bevestigd verband.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89320" y="35021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🔊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327648" y="35021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Blootstelling aan lawaai correleert met gehoorverlies zoals verwacht.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989320" y="410565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27648" y="41056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Verbanden zijn medisch logisch én kunnen preventiebeleid sturen.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0"/>
            <a:ext cx="36576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Resultaten — Pathologieën per Leeftijdsgroep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05088" y="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van de top 5 pathologieën per leeftijdsgroep (10-jaarsstappen, leeftijden 16–65).</a:t>
            </a:r>
            <a:endParaRPr lang="en-US" sz="10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143000"/>
          <a:ext cx="566928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126480" y="1143000"/>
            <a:ext cx="274320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126480" y="1143000"/>
            <a:ext cx="64008" cy="3794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355080" y="12344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Bevindingen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09360" y="164592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👁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56832" y="16459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Myopie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656832" y="183794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piekt bij 20–29 jaar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309360" y="2249424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656832" y="224942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Presbyopie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656832" y="24414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stijgt sterk na 40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309360" y="285292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🏋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656832" y="28529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 rugpijn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656832" y="304495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piek 40–49 jaar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309360" y="345643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656832" y="345643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656832" y="364845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meest bij 40–49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309360" y="4059936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🤧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656832" y="40599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Luchtweginf.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656832" y="42519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stabiel over leeftijd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0"/>
            <a:ext cx="36576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Resultaten — Pathologieën per Seizoen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05088" y="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Bepaalde pathologieën vertonen een duidelijk seizoensgebonden patroon (≥70% van gevallen in één seizoen).</a:t>
            </a:r>
            <a:endParaRPr lang="en-US" sz="10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143000"/>
          <a:ext cx="530352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760720" y="1188720"/>
            <a:ext cx="3108960" cy="868680"/>
          </a:xfrm>
          <a:prstGeom prst="rect">
            <a:avLst/>
          </a:prstGeom>
          <a:solidFill>
            <a:srgbClr val="86EFAC">
              <a:alpha val="70000"/>
            </a:srgbClr>
          </a:solidFill>
          <a:ln w="635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12344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Lente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52704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Piek aangeboren tuberculose (P37.0 — 100%)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60720" y="2148840"/>
            <a:ext cx="3108960" cy="868680"/>
          </a:xfrm>
          <a:prstGeom prst="rect">
            <a:avLst/>
          </a:prstGeom>
          <a:solidFill>
            <a:srgbClr val="FDE68A">
              <a:alpha val="70000"/>
            </a:srgbClr>
          </a:solidFill>
          <a:ln w="6350">
            <a:solidFill>
              <a:srgbClr val="FDE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897880" y="2194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Zomer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97880" y="248716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Relatief rustig; myopie licht verhoogd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760720" y="3108960"/>
            <a:ext cx="3108960" cy="868680"/>
          </a:xfrm>
          <a:prstGeom prst="rect">
            <a:avLst/>
          </a:prstGeom>
          <a:solidFill>
            <a:srgbClr val="FCA5A5">
              <a:alpha val="70000"/>
            </a:srgbClr>
          </a:solidFill>
          <a:ln w="635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897880" y="31546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🍂 Herfst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97880" y="344728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Meningokokken (A39) en traumata pieken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760720" y="4069080"/>
            <a:ext cx="3108960" cy="868680"/>
          </a:xfrm>
          <a:prstGeom prst="rect">
            <a:avLst/>
          </a:prstGeom>
          <a:solidFill>
            <a:srgbClr val="BAE6FD">
              <a:alpha val="70000"/>
            </a:srgbClr>
          </a:solidFill>
          <a:ln w="635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897880" y="4114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Winter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97880" y="440740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Luchtweginfecties en depressie duidelijk hoger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-1012372" y="4812357"/>
            <a:ext cx="746542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bevat 76 seizoensgebonden pathologieën (drempel: ≥70%, min. 50 gevallen)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0"/>
            <a:ext cx="36576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Resultaten — Risico's &amp; Pathologieën per NACE-sector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05088" y="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top 10 NACE-sectoren bevatten het merendeel van de werknemers. Beeldschermwerk domineert sectoroverschrijdend.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1115568"/>
            <a:ext cx="4297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risico's per sector</a:t>
            </a:r>
            <a:endParaRPr lang="en-US" sz="9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1417320"/>
          <a:ext cx="425196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754880" y="1115568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pathologieën per sector</a:t>
            </a:r>
            <a:endParaRPr lang="en-US" sz="95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4663440" y="1417320"/>
          <a:ext cx="425196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274320" y="476402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0"/>
            <a:ext cx="36576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Resultaten — Coronavirus B97.2 over tijd (2018–heden)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05088" y="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Evolutie van het maandelijks aantal vastgestelde gevallen van pathologie B97.2 (coronavirus als oorzaak van ziekte).</a:t>
            </a:r>
            <a:endParaRPr lang="en-US" sz="10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143000"/>
          <a:ext cx="59436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355080" y="1152144"/>
            <a:ext cx="25146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00800" y="1143000"/>
            <a:ext cx="64008" cy="3749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629400" y="123444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Sleutelmomenten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29400" y="166420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2020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629400" y="185623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Eerste COVID-19 golf in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Frankrijk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629400" y="2185416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629400" y="237744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Tweede golf — scherpe piek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629400" y="2706624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2021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629400" y="289864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Derde golf — vergelijkbaar niveau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629400" y="322783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2021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629400" y="341985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Delta-variant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629400" y="374904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629400" y="394106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Omicron — hoogste piek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629400" y="427024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2023+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629400" y="446227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Normalisering, dalende trend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-662940" y="4802559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Gebaseerd op pathology_startdate · ICD-10 code B97.2 · data per kwartaal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0"/>
            <a:ext cx="36576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Applicatie — Interactieve Data Exploratie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05088" y="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 de analyse is een interactieve webapplicatie gebouwd waarmee de data dynamisch verkend kan worden.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tabs — elk met eigen grafieken en filters: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41148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5727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Risico's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0482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Top N meest voorkomende risico's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3591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Filterbaar op tijdsperiode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6700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Actieve risico's (zonder einddatum)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1572768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09160" y="1572768"/>
            <a:ext cx="41148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5727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Pathologieën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0482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Top N meest voorkomende pathologieën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23591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ICD-10 codes met volledige omschrijving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0" y="26700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Actieve pathologieën apart getoond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172968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172968"/>
            <a:ext cx="411480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1729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Combinaties &amp; Seizoenen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6484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Top N risico-pathologie combinaties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39593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Seizoensgebonden pathologieën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42702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Instelbare drempel (70% / 80%)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172968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09160" y="3172968"/>
            <a:ext cx="41148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31729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Demografie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6484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Pathologieën per geslacht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39593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Per leeftijdsgroep (10-jaar stappen)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0" y="42702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Man vs. Vrouw vergelijking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4626864"/>
            <a:ext cx="8595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657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Conclusie &amp; Wat volgt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914400"/>
            <a:ext cx="3657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Jaar 1 — bereikt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Dataset opgesteld via MS SQL (1,16M+ rijen)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8379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 ingelezen, opgeschoond en verrijkt in Python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2128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Interactieve Streamlit-applicatie gebouwd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5877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Visualisaties: top 10, leeftijd, seizoen, NACE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96265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Correlaties risico–pathologie blootgelegd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337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Historische periodeanalyse (1990–2000, 2000–2010)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71246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Coronavirus-evolutie (B97.2) in kaart gebracht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105156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Jaar 2 — vooruitblik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Predictiemodellen op basis van historische 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837944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Input: geslacht, leeftijd, risico's, sector, beroep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21284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Tijdsdimensie: historiek risicoblootstelling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587752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ML: classificatie van toekomstige pathologieën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962656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Integratie suggesties in Pulse/H@W-workflow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333756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Artsen en verpleegkundigen proactief assisteren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1051560"/>
            <a:ext cx="0" cy="3200400"/>
          </a:xfrm>
          <a:prstGeom prst="line">
            <a:avLst/>
          </a:prstGeom>
          <a:noFill/>
          <a:ln w="12700">
            <a:solidFill>
              <a:srgbClr val="2E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 of opmerkingen?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1494</Words>
  <Application>Microsoft Office PowerPoint</Application>
  <PresentationFormat>On-screen Show (16:9)</PresentationFormat>
  <Paragraphs>304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Eindwerk Data Science Jaar 1 — Resultaten</dc:title>
  <dc:subject>PptxGenJS Presentation</dc:subject>
  <dc:creator>Maxime Mylle</dc:creator>
  <cp:lastModifiedBy>Maxime Mylle</cp:lastModifiedBy>
  <cp:revision>3</cp:revision>
  <dcterms:created xsi:type="dcterms:W3CDTF">2026-04-20T09:48:11Z</dcterms:created>
  <dcterms:modified xsi:type="dcterms:W3CDTF">2026-04-20T12:06:40Z</dcterms:modified>
</cp:coreProperties>
</file>