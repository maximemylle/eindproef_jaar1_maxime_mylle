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charts/chart4.xml" ContentType="application/vnd.openxmlformats-officedocument.drawingml.chart+xml"/>
  <Override PartName="/ppt/notesSlides/notesSlide13.xml" ContentType="application/vnd.openxmlformats-officedocument.presentationml.notesSlide+xml"/>
  <Override PartName="/ppt/charts/chart5.xml" ContentType="application/vnd.openxmlformats-officedocument.drawingml.chart+xml"/>
  <Override PartName="/ppt/notesSlides/notesSlide14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5.xml" ContentType="application/vnd.openxmlformats-officedocument.presentationml.notesSlide+xml"/>
  <Override PartName="/ppt/charts/chart8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Aantal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Beeldschermwerk</c:v>
                </c:pt>
                <c:pt idx="1">
                  <c:v>Nachtwerk</c:v>
                </c:pt>
                <c:pt idx="2">
                  <c:v>Ioniserende straling</c:v>
                </c:pt>
                <c:pt idx="3">
                  <c:v>Geluid</c:v>
                </c:pt>
                <c:pt idx="4">
                  <c:v>Lasten hanteren</c:v>
                </c:pt>
                <c:pt idx="5">
                  <c:v>Biologische agentia</c:v>
                </c:pt>
                <c:pt idx="6">
                  <c:v>Chemische stoffen</c:v>
                </c:pt>
                <c:pt idx="7">
                  <c:v>Voertuig besturen</c:v>
                </c:pt>
                <c:pt idx="8">
                  <c:v>Psychosociale risicos</c:v>
                </c:pt>
                <c:pt idx="9">
                  <c:v>Extreme temperaturen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94380</c:v>
                </c:pt>
                <c:pt idx="1">
                  <c:v>58200</c:v>
                </c:pt>
                <c:pt idx="2">
                  <c:v>41700</c:v>
                </c:pt>
                <c:pt idx="3">
                  <c:v>37400</c:v>
                </c:pt>
                <c:pt idx="4">
                  <c:v>31200</c:v>
                </c:pt>
                <c:pt idx="5">
                  <c:v>28900</c:v>
                </c:pt>
                <c:pt idx="6">
                  <c:v>24500</c:v>
                </c:pt>
                <c:pt idx="7">
                  <c:v>21800</c:v>
                </c:pt>
                <c:pt idx="8">
                  <c:v>18600</c:v>
                </c:pt>
                <c:pt idx="9">
                  <c:v>15300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DD-462F-BCB9-BD02C6F41E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Aantal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M54.5 — Lage rugpijn</c:v>
                </c:pt>
                <c:pt idx="1">
                  <c:v>H52.1 — Myopie</c:v>
                </c:pt>
                <c:pt idx="2">
                  <c:v>H52.4 — Presbyopie</c:v>
                </c:pt>
                <c:pt idx="3">
                  <c:v>J06.9 — Luchtweginf.</c:v>
                </c:pt>
                <c:pt idx="4">
                  <c:v>M54.4 — Lumbago-ischias</c:v>
                </c:pt>
                <c:pt idx="5">
                  <c:v>H10.9 — Conjunctivitis</c:v>
                </c:pt>
                <c:pt idx="6">
                  <c:v>F32.0 — Depressieve ep.</c:v>
                </c:pt>
                <c:pt idx="7">
                  <c:v>H52.2 — Astigmatisme</c:v>
                </c:pt>
                <c:pt idx="8">
                  <c:v>M79.3 — Panniculitis</c:v>
                </c:pt>
                <c:pt idx="9">
                  <c:v>J45.9 — Astma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41344</c:v>
                </c:pt>
                <c:pt idx="1">
                  <c:v>28700</c:v>
                </c:pt>
                <c:pt idx="2">
                  <c:v>22100</c:v>
                </c:pt>
                <c:pt idx="3">
                  <c:v>18500</c:v>
                </c:pt>
                <c:pt idx="4">
                  <c:v>16200</c:v>
                </c:pt>
                <c:pt idx="5">
                  <c:v>14800</c:v>
                </c:pt>
                <c:pt idx="6">
                  <c:v>12400</c:v>
                </c:pt>
                <c:pt idx="7">
                  <c:v>11600</c:v>
                </c:pt>
                <c:pt idx="8">
                  <c:v>9800</c:v>
                </c:pt>
                <c:pt idx="9">
                  <c:v>8700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A62-4647-932A-259789BA066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Aantal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Beeldschermwerk × Myopie</c:v>
                </c:pt>
                <c:pt idx="1">
                  <c:v>Beeldschermwerk × Presbyopie</c:v>
                </c:pt>
                <c:pt idx="2">
                  <c:v>Beeldschermwerk × Lage rugpijn</c:v>
                </c:pt>
                <c:pt idx="3">
                  <c:v>Beeldschermwerk × Astigmatisme</c:v>
                </c:pt>
                <c:pt idx="4">
                  <c:v>Lasten hanteren × Lage rugpijn</c:v>
                </c:pt>
                <c:pt idx="5">
                  <c:v>Geluid × Gehoorverlies</c:v>
                </c:pt>
                <c:pt idx="6">
                  <c:v>Ioniserende str. × Schildkl.aandoen.</c:v>
                </c:pt>
                <c:pt idx="7">
                  <c:v>Nachtwerk × Slaapstoornis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24800</c:v>
                </c:pt>
                <c:pt idx="1">
                  <c:v>18600</c:v>
                </c:pt>
                <c:pt idx="2">
                  <c:v>17200</c:v>
                </c:pt>
                <c:pt idx="3">
                  <c:v>12400</c:v>
                </c:pt>
                <c:pt idx="4">
                  <c:v>11800</c:v>
                </c:pt>
                <c:pt idx="5">
                  <c:v>9600</c:v>
                </c:pt>
                <c:pt idx="6">
                  <c:v>6200</c:v>
                </c:pt>
                <c:pt idx="7">
                  <c:v>5800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EEF-4369-BFE0-3B3EDBD54E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H52.1 Myopie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20–29</c:v>
                </c:pt>
                <c:pt idx="1">
                  <c:v>30–39</c:v>
                </c:pt>
                <c:pt idx="2">
                  <c:v>40–49</c:v>
                </c:pt>
                <c:pt idx="3">
                  <c:v>50–59</c:v>
                </c:pt>
                <c:pt idx="4">
                  <c:v>60–69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8200</c:v>
                </c:pt>
                <c:pt idx="1">
                  <c:v>6100</c:v>
                </c:pt>
                <c:pt idx="2">
                  <c:v>3800</c:v>
                </c:pt>
                <c:pt idx="3">
                  <c:v>1900</c:v>
                </c:pt>
                <c:pt idx="4">
                  <c:v>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E41-4A54-9572-61B7402B997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H52.4 Presbyopie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20–29</c:v>
                </c:pt>
                <c:pt idx="1">
                  <c:v>30–39</c:v>
                </c:pt>
                <c:pt idx="2">
                  <c:v>40–49</c:v>
                </c:pt>
                <c:pt idx="3">
                  <c:v>50–59</c:v>
                </c:pt>
                <c:pt idx="4">
                  <c:v>60–69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200</c:v>
                </c:pt>
                <c:pt idx="1">
                  <c:v>1800</c:v>
                </c:pt>
                <c:pt idx="2">
                  <c:v>7200</c:v>
                </c:pt>
                <c:pt idx="3">
                  <c:v>9400</c:v>
                </c:pt>
                <c:pt idx="4">
                  <c:v>6100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E41-4A54-9572-61B7402B997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M54.5 Lage rugp.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20–29</c:v>
                </c:pt>
                <c:pt idx="1">
                  <c:v>30–39</c:v>
                </c:pt>
                <c:pt idx="2">
                  <c:v>40–49</c:v>
                </c:pt>
                <c:pt idx="3">
                  <c:v>50–59</c:v>
                </c:pt>
                <c:pt idx="4">
                  <c:v>60–69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3100</c:v>
                </c:pt>
                <c:pt idx="1">
                  <c:v>6800</c:v>
                </c:pt>
                <c:pt idx="2">
                  <c:v>9200</c:v>
                </c:pt>
                <c:pt idx="3">
                  <c:v>7600</c:v>
                </c:pt>
                <c:pt idx="4">
                  <c:v>4200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E41-4A54-9572-61B7402B997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F32 Depressie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20–29</c:v>
                </c:pt>
                <c:pt idx="1">
                  <c:v>30–39</c:v>
                </c:pt>
                <c:pt idx="2">
                  <c:v>40–49</c:v>
                </c:pt>
                <c:pt idx="3">
                  <c:v>50–59</c:v>
                </c:pt>
                <c:pt idx="4">
                  <c:v>60–69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1800</c:v>
                </c:pt>
                <c:pt idx="1">
                  <c:v>3200</c:v>
                </c:pt>
                <c:pt idx="2">
                  <c:v>4100</c:v>
                </c:pt>
                <c:pt idx="3">
                  <c:v>3600</c:v>
                </c:pt>
                <c:pt idx="4">
                  <c:v>1900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E41-4A54-9572-61B7402B997A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J06 Luchtweginf.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20–29</c:v>
                </c:pt>
                <c:pt idx="1">
                  <c:v>30–39</c:v>
                </c:pt>
                <c:pt idx="2">
                  <c:v>40–49</c:v>
                </c:pt>
                <c:pt idx="3">
                  <c:v>50–59</c:v>
                </c:pt>
                <c:pt idx="4">
                  <c:v>60–69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2900</c:v>
                </c:pt>
                <c:pt idx="1">
                  <c:v>3400</c:v>
                </c:pt>
                <c:pt idx="2">
                  <c:v>3800</c:v>
                </c:pt>
                <c:pt idx="3">
                  <c:v>3100</c:v>
                </c:pt>
                <c:pt idx="4">
                  <c:v>2200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E41-4A54-9572-61B7402B997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M54.5 Lage rugpijn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Lente</c:v>
                </c:pt>
                <c:pt idx="1">
                  <c:v>Zomer</c:v>
                </c:pt>
                <c:pt idx="2">
                  <c:v>Herfst</c:v>
                </c:pt>
                <c:pt idx="3">
                  <c:v>Winter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8900</c:v>
                </c:pt>
                <c:pt idx="1">
                  <c:v>9200</c:v>
                </c:pt>
                <c:pt idx="2">
                  <c:v>11400</c:v>
                </c:pt>
                <c:pt idx="3">
                  <c:v>11800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059-4985-8BDA-B4B314F7DDE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J06.9 Luchtweginf.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Lente</c:v>
                </c:pt>
                <c:pt idx="1">
                  <c:v>Zomer</c:v>
                </c:pt>
                <c:pt idx="2">
                  <c:v>Herfst</c:v>
                </c:pt>
                <c:pt idx="3">
                  <c:v>Winter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7100</c:v>
                </c:pt>
                <c:pt idx="1">
                  <c:v>4200</c:v>
                </c:pt>
                <c:pt idx="2">
                  <c:v>8600</c:v>
                </c:pt>
                <c:pt idx="3">
                  <c:v>13800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059-4985-8BDA-B4B314F7DDE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H52.1 Myopie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Lente</c:v>
                </c:pt>
                <c:pt idx="1">
                  <c:v>Zomer</c:v>
                </c:pt>
                <c:pt idx="2">
                  <c:v>Herfst</c:v>
                </c:pt>
                <c:pt idx="3">
                  <c:v>Winter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6200</c:v>
                </c:pt>
                <c:pt idx="1">
                  <c:v>7100</c:v>
                </c:pt>
                <c:pt idx="2">
                  <c:v>6800</c:v>
                </c:pt>
                <c:pt idx="3">
                  <c:v>8600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059-4985-8BDA-B4B314F7DDE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F32 Depressie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Lente</c:v>
                </c:pt>
                <c:pt idx="1">
                  <c:v>Zomer</c:v>
                </c:pt>
                <c:pt idx="2">
                  <c:v>Herfst</c:v>
                </c:pt>
                <c:pt idx="3">
                  <c:v>Winter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2800</c:v>
                </c:pt>
                <c:pt idx="1">
                  <c:v>2100</c:v>
                </c:pt>
                <c:pt idx="2">
                  <c:v>3900</c:v>
                </c:pt>
                <c:pt idx="3">
                  <c:v>5200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059-4985-8BDA-B4B314F7DDE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A39 Meningokokken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Lente</c:v>
                </c:pt>
                <c:pt idx="1">
                  <c:v>Zomer</c:v>
                </c:pt>
                <c:pt idx="2">
                  <c:v>Herfst</c:v>
                </c:pt>
                <c:pt idx="3">
                  <c:v>Winter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150</c:v>
                </c:pt>
                <c:pt idx="1">
                  <c:v>62</c:v>
                </c:pt>
                <c:pt idx="2">
                  <c:v>152</c:v>
                </c:pt>
                <c:pt idx="3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059-4985-8BDA-B4B314F7DD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Beeldschermwerk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Ziekenhuisactiviteiten</c:v>
                </c:pt>
                <c:pt idx="1">
                  <c:v>Algemeen openbaar bestuur</c:v>
                </c:pt>
                <c:pt idx="2">
                  <c:v>Secundair onderwijs</c:v>
                </c:pt>
                <c:pt idx="3">
                  <c:v>Bankactiviteiten</c:v>
                </c:pt>
                <c:pt idx="4">
                  <c:v>Vervaardiging geneesmiddelen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38200</c:v>
                </c:pt>
                <c:pt idx="1">
                  <c:v>29100</c:v>
                </c:pt>
                <c:pt idx="2">
                  <c:v>21400</c:v>
                </c:pt>
                <c:pt idx="3">
                  <c:v>41800</c:v>
                </c:pt>
                <c:pt idx="4">
                  <c:v>12600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5F-4DAA-87FE-ACFF10A201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Ioniserende str.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Ziekenhuisactiviteiten</c:v>
                </c:pt>
                <c:pt idx="1">
                  <c:v>Algemeen openbaar bestuur</c:v>
                </c:pt>
                <c:pt idx="2">
                  <c:v>Secundair onderwijs</c:v>
                </c:pt>
                <c:pt idx="3">
                  <c:v>Bankactiviteiten</c:v>
                </c:pt>
                <c:pt idx="4">
                  <c:v>Vervaardiging geneesmiddelen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14200</c:v>
                </c:pt>
                <c:pt idx="1">
                  <c:v>800</c:v>
                </c:pt>
                <c:pt idx="2">
                  <c:v>300</c:v>
                </c:pt>
                <c:pt idx="3">
                  <c:v>100</c:v>
                </c:pt>
                <c:pt idx="4">
                  <c:v>8900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5F-4DAA-87FE-ACFF10A201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Nachtwerk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Ziekenhuisactiviteiten</c:v>
                </c:pt>
                <c:pt idx="1">
                  <c:v>Algemeen openbaar bestuur</c:v>
                </c:pt>
                <c:pt idx="2">
                  <c:v>Secundair onderwijs</c:v>
                </c:pt>
                <c:pt idx="3">
                  <c:v>Bankactiviteiten</c:v>
                </c:pt>
                <c:pt idx="4">
                  <c:v>Vervaardiging geneesmiddelen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12800</c:v>
                </c:pt>
                <c:pt idx="1">
                  <c:v>5400</c:v>
                </c:pt>
                <c:pt idx="2">
                  <c:v>800</c:v>
                </c:pt>
                <c:pt idx="3">
                  <c:v>2100</c:v>
                </c:pt>
                <c:pt idx="4">
                  <c:v>3200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5F-4DAA-87FE-ACFF10A201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Lage rugpijn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Ziekenhuisactiviteiten</c:v>
                </c:pt>
                <c:pt idx="1">
                  <c:v>Algemeen openbaar bestuur</c:v>
                </c:pt>
                <c:pt idx="2">
                  <c:v>Secundair onderwijs</c:v>
                </c:pt>
                <c:pt idx="3">
                  <c:v>Bankactiviteiten</c:v>
                </c:pt>
                <c:pt idx="4">
                  <c:v>Vervaardiging geneesmiddelen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9100</c:v>
                </c:pt>
                <c:pt idx="1">
                  <c:v>6800</c:v>
                </c:pt>
                <c:pt idx="2">
                  <c:v>5200</c:v>
                </c:pt>
                <c:pt idx="3">
                  <c:v>7600</c:v>
                </c:pt>
                <c:pt idx="4">
                  <c:v>3800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90-43F2-9C39-C3A34261C0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Myopie</c:v>
                </c:pt>
              </c:strCache>
            </c:strRef>
          </c:tx>
          <c:spPr>
            <a:solidFill>
              <a:srgbClr val="0D9488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Ziekenhuisactiviteiten</c:v>
                </c:pt>
                <c:pt idx="1">
                  <c:v>Algemeen openbaar bestuur</c:v>
                </c:pt>
                <c:pt idx="2">
                  <c:v>Secundair onderwijs</c:v>
                </c:pt>
                <c:pt idx="3">
                  <c:v>Bankactiviteiten</c:v>
                </c:pt>
                <c:pt idx="4">
                  <c:v>Vervaardiging geneesmiddelen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7200</c:v>
                </c:pt>
                <c:pt idx="1">
                  <c:v>5900</c:v>
                </c:pt>
                <c:pt idx="2">
                  <c:v>4800</c:v>
                </c:pt>
                <c:pt idx="3">
                  <c:v>8100</c:v>
                </c:pt>
                <c:pt idx="4">
                  <c:v>2900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890-43F2-9C39-C3A34261C0C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Presbyopie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Ziekenhuisactiviteiten</c:v>
                </c:pt>
                <c:pt idx="1">
                  <c:v>Algemeen openbaar bestuur</c:v>
                </c:pt>
                <c:pt idx="2">
                  <c:v>Secundair onderwijs</c:v>
                </c:pt>
                <c:pt idx="3">
                  <c:v>Bankactiviteiten</c:v>
                </c:pt>
                <c:pt idx="4">
                  <c:v>Vervaardiging geneesmiddelen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5800</c:v>
                </c:pt>
                <c:pt idx="1">
                  <c:v>4900</c:v>
                </c:pt>
                <c:pt idx="2">
                  <c:v>5600</c:v>
                </c:pt>
                <c:pt idx="3">
                  <c:v>6200</c:v>
                </c:pt>
                <c:pt idx="4">
                  <c:v>2200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890-43F2-9C39-C3A34261C0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334155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B97.2 — Coronavirus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Q1-18</c:v>
                </c:pt>
                <c:pt idx="1">
                  <c:v>Q2-18</c:v>
                </c:pt>
                <c:pt idx="2">
                  <c:v>Q3-18</c:v>
                </c:pt>
                <c:pt idx="3">
                  <c:v>Q4-18</c:v>
                </c:pt>
                <c:pt idx="4">
                  <c:v>Q1-19</c:v>
                </c:pt>
                <c:pt idx="5">
                  <c:v>Q2-19</c:v>
                </c:pt>
                <c:pt idx="6">
                  <c:v>Q3-19</c:v>
                </c:pt>
                <c:pt idx="7">
                  <c:v>Q4-19</c:v>
                </c:pt>
                <c:pt idx="8">
                  <c:v>Q1-20</c:v>
                </c:pt>
                <c:pt idx="9">
                  <c:v>Q2-20</c:v>
                </c:pt>
                <c:pt idx="10">
                  <c:v>Q3-20</c:v>
                </c:pt>
                <c:pt idx="11">
                  <c:v>Q4-20</c:v>
                </c:pt>
                <c:pt idx="12">
                  <c:v>Q1-21</c:v>
                </c:pt>
                <c:pt idx="13">
                  <c:v>Q2-21</c:v>
                </c:pt>
                <c:pt idx="14">
                  <c:v>Q3-21</c:v>
                </c:pt>
                <c:pt idx="15">
                  <c:v>Q4-21</c:v>
                </c:pt>
                <c:pt idx="16">
                  <c:v>Q1-22</c:v>
                </c:pt>
                <c:pt idx="17">
                  <c:v>Q2-22</c:v>
                </c:pt>
                <c:pt idx="18">
                  <c:v>Q3-22</c:v>
                </c:pt>
                <c:pt idx="19">
                  <c:v>Q4-22</c:v>
                </c:pt>
                <c:pt idx="20">
                  <c:v>Q1-23</c:v>
                </c:pt>
                <c:pt idx="21">
                  <c:v>Q2-23</c:v>
                </c:pt>
                <c:pt idx="22">
                  <c:v>Q3-23</c:v>
                </c:pt>
                <c:pt idx="23">
                  <c:v>Q4-23</c:v>
                </c:pt>
                <c:pt idx="24">
                  <c:v>Q1-24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2</c:v>
                </c:pt>
                <c:pt idx="7">
                  <c:v>6</c:v>
                </c:pt>
                <c:pt idx="8">
                  <c:v>420</c:v>
                </c:pt>
                <c:pt idx="9">
                  <c:v>1840</c:v>
                </c:pt>
                <c:pt idx="10">
                  <c:v>380</c:v>
                </c:pt>
                <c:pt idx="11">
                  <c:v>2100</c:v>
                </c:pt>
                <c:pt idx="12">
                  <c:v>1920</c:v>
                </c:pt>
                <c:pt idx="13">
                  <c:v>680</c:v>
                </c:pt>
                <c:pt idx="14">
                  <c:v>520</c:v>
                </c:pt>
                <c:pt idx="15">
                  <c:v>1650</c:v>
                </c:pt>
                <c:pt idx="16">
                  <c:v>2200</c:v>
                </c:pt>
                <c:pt idx="17">
                  <c:v>580</c:v>
                </c:pt>
                <c:pt idx="18">
                  <c:v>210</c:v>
                </c:pt>
                <c:pt idx="19">
                  <c:v>490</c:v>
                </c:pt>
                <c:pt idx="20">
                  <c:v>180</c:v>
                </c:pt>
                <c:pt idx="21">
                  <c:v>90</c:v>
                </c:pt>
                <c:pt idx="22">
                  <c:v>60</c:v>
                </c:pt>
                <c:pt idx="23">
                  <c:v>120</c:v>
                </c:pt>
                <c:pt idx="24">
                  <c:v>55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6EF-4E90-86E6-BBBBB710DF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338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kern="0" spc="400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Eindwerk Data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Medische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data-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Risico's &amp;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Pathologieën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32004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Maxime Mylle</a:t>
            </a:r>
            <a:r>
              <a:rPr lang="en-US" sz="13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Trustteam  ·  2025–2026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07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Jaar 1 </a:t>
            </a:r>
            <a:r>
              <a:rPr lang="en-US" sz="1100" dirty="0" err="1">
                <a:solidFill>
                  <a:srgbClr val="607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Datascience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ben ik?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374904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64008" cy="9601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Maxime Mylle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Trustteam — Software voor arbeidspreventiebureaus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9659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Officiële functietitels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313432"/>
            <a:ext cx="201168" cy="20116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0332" y="2532888"/>
            <a:ext cx="0" cy="45720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2860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971800"/>
            <a:ext cx="201168" cy="201168"/>
          </a:xfrm>
          <a:prstGeom prst="ellipse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70332" y="3191256"/>
            <a:ext cx="0" cy="45720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94360" y="294436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Line Support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29443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60273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834640" y="3602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97680" y="868680"/>
            <a:ext cx="457200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297680" y="868680"/>
            <a:ext cx="64008" cy="4069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26280" y="9601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ik écht doe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498848" y="1371600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937760" y="137160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management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1627632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opvolging, stakeholders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498848" y="2039112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💻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937760" y="2039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937760" y="2295144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C#, SQL, JavaScript, Python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98848" y="2706624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37760" y="27066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Functioneel &amp; tech. analyst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0" y="296265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specs, testplannen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498848" y="3374136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🗄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937760" y="33741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migraties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937760" y="363016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datakwaliteit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498848" y="4041648"/>
            <a:ext cx="365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🎨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937760" y="4041648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UI-ontwikkeling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937760" y="4297680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Iconen &amp; interfaces voor Pulse/H@W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Pulse / H@W?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85953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64008" cy="10058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914400"/>
            <a:ext cx="8138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(ook gekend als H@W — Health @ Work) is softwaresysteem voor arbeidspreventiebureaus en medische diensten. Het beheert medische onderzoeken, risicoblootstelling en pathologieën van werknemers.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011680"/>
            <a:ext cx="265176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🏢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Bedrijven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017520"/>
            <a:ext cx="1371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31089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Werkgevers registreren hun werknemers en hun blootstellingsrisico's per functie.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0" y="2011680"/>
            <a:ext cx="265176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👷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38328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Werknemers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840480" y="3017520"/>
            <a:ext cx="1371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31089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werknemer worden risico's, medische onderzoeken en vastgestelde pathologieën bijgehouden.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26480" y="2011680"/>
            <a:ext cx="265176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09360" y="21488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🩺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309360" y="2697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Medisch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3017520"/>
            <a:ext cx="1371600" cy="0"/>
          </a:xfrm>
          <a:prstGeom prst="line">
            <a:avLst/>
          </a:prstGeom>
          <a:noFill/>
          <a:ln w="1905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263640" y="3108960"/>
            <a:ext cx="2377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Artsen en verpleegkundigen gebruiken Pulse om onderzoeken af te nemen en diagnoses te registreren.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Gebruikt door arbeidspreventiebureaus zoals Mensura, Securex, Cohezio en andere medische diensten in </a:t>
            </a:r>
            <a:r>
              <a:rPr lang="en-US" sz="9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België</a:t>
            </a: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DISCLAIMER  ⚠️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5303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"Ik ben misschien iets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laat gestart met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 eindwerk..."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53035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64008" cy="1645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3337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de arbeidsgeneesheer bij mij zou meten: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374904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❤️  Bloeddruk:</a:t>
            </a: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165 / 100 mmHg  (verhoogd)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 Cortisol:</a:t>
            </a: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Waarden buiten schaal  📈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 Slaapuren:</a:t>
            </a: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4u  (referentie: ≥7u)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868680"/>
            <a:ext cx="2834640" cy="4023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35040" y="100584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rgbClr val="000000"/>
                </a:solidFill>
              </a:rPr>
              <a:t>🩺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6126480" y="182880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Advies van de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arbeidsgeneesheer: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246888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"Meneer Mylle,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begint u voortaan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iets vroeger."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126480" y="374904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Conclusie: deadlines zijn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een beroepsrisico. 😅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zijn Risico's?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374904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64008" cy="40690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25272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risico is een gevaar of blootstelling waarmee een werknemer in aanraking komt door zijn beroepssituatie. Risico's worden per tewerkstelling geregistreerd in Pulse.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30175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240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Voorbeelden van risico's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57860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  Beeldschermwerk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2907792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🔊  Geluid / lawaai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3236976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☢  Ioniserende straling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  Chemische stoffen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3895344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 Manueel hanteren van lasten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422452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 Extreme temperaturen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206240" y="8046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meest voorkomende risico's (alle jaren)</a:t>
            </a:r>
            <a:endParaRPr lang="en-US" sz="10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4160520" y="1115568"/>
          <a:ext cx="470916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zijn Pathologieën?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868680"/>
            <a:ext cx="3749040" cy="4069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868680"/>
            <a:ext cx="64008" cy="4069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252728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pathologie is een medisch vastgestelde aandoening of ziekte bij een werknemer. Ze worden gecodeerd via de ICD-10 standaard en geregistreerd bij medische onderzoeken.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2148840"/>
            <a:ext cx="30175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22402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 — Internationale classificatie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2578608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M54.5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57860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 rugpijn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2926080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H52.1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9260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Myopie (bijziendheid)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3273552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H52.4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25880" y="3273552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Presbyopie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621024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J06.9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325880" y="3621024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bovenste luchtweginf.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3968496"/>
            <a:ext cx="777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F41.1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325880" y="3968496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Gegeneraliseerde angststoornis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206240" y="8046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meest voorkomende pathologieën (alle jaren)</a:t>
            </a:r>
            <a:endParaRPr lang="en-US" sz="1000" dirty="0"/>
          </a:p>
        </p:txBody>
      </p:sp>
      <p:graphicFrame>
        <p:nvGraphicFramePr>
          <p:cNvPr id="23" name="Chart 0"/>
          <p:cNvGraphicFramePr/>
          <p:nvPr/>
        </p:nvGraphicFramePr>
        <p:xfrm>
          <a:off x="4160520" y="1115568"/>
          <a:ext cx="470916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 Onderworpenheid — SIG · SIA · SIR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basis van geregistreerde risico's wordt de categorie bepaald die aangeeft hoe vaak een werknemer medisch onderzocht moet worden.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4320" y="1874520"/>
            <a:ext cx="2011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Info Générale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1828800" cy="347472"/>
          </a:xfrm>
          <a:prstGeom prst="rect">
            <a:avLst/>
          </a:prstGeom>
          <a:solidFill>
            <a:srgbClr val="22C55E">
              <a:alpha val="15000"/>
            </a:srgbClr>
          </a:solidFill>
          <a:ln w="12700">
            <a:solidFill>
              <a:srgbClr val="22C55E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4871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5 jaar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5760" y="290779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Laagste prioriteit. Werknemers zonder specifiek verhoogd risico worden om de 5 jaar opgevolgd.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50592" y="1371600"/>
            <a:ext cx="2011680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50592" y="1371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450592" y="1874520"/>
            <a:ext cx="2011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542032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Info Approfondie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42032" y="2468880"/>
            <a:ext cx="182880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542032" y="24871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3 jaar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42032" y="290779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Werknemers met een matig risico vereisen een grondigere opvolging om de 3 jaar.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26864" y="1371600"/>
            <a:ext cx="2011680" cy="502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626864" y="1371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SIR2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626864" y="1874520"/>
            <a:ext cx="2011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18304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Info </a:t>
            </a:r>
            <a:r>
              <a:rPr lang="en-US" sz="900" b="1" dirty="0" err="1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Renforcée</a:t>
            </a:r>
            <a:r>
              <a:rPr lang="en-US" sz="9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18304" y="2468880"/>
            <a:ext cx="1828800" cy="347472"/>
          </a:xfrm>
          <a:prstGeom prst="rect">
            <a:avLst/>
          </a:prstGeom>
          <a:solidFill>
            <a:srgbClr val="EF4444">
              <a:alpha val="15000"/>
            </a:srgbClr>
          </a:solidFill>
          <a:ln w="12700">
            <a:solidFill>
              <a:srgbClr val="EF4444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18304" y="24871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 de 2 jaar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18304" y="290779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Verhoogd risico. Intensievere monitoring om de 2 jaar.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803136" y="1371600"/>
            <a:ext cx="2011680" cy="502920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03136" y="137160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SIR1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6803136" y="1874520"/>
            <a:ext cx="201168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894576" y="1965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Info </a:t>
            </a:r>
            <a:r>
              <a:rPr lang="en-US" sz="900" b="1" dirty="0" err="1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Renforcée</a:t>
            </a:r>
            <a:r>
              <a:rPr lang="en-US" sz="9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894576" y="2468880"/>
            <a:ext cx="1828800" cy="347472"/>
          </a:xfrm>
          <a:prstGeom prst="rect">
            <a:avLst/>
          </a:prstGeom>
          <a:solidFill>
            <a:srgbClr val="991B1B">
              <a:alpha val="15000"/>
            </a:srgbClr>
          </a:solidFill>
          <a:ln w="12700">
            <a:solidFill>
              <a:srgbClr val="991B1B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894576" y="24871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Jaarlijks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894576" y="2907792"/>
            <a:ext cx="18288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Hoogste prioriteit. Jaarlijkse opvolging voor werknemers met een ernstig risico (bv. ioniserende straling).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Laag risico  ──────────────────────────────────────────  Hoog risico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Thesaurussen — Gestandaardiseerde Codes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Risico's en pathologieën worden gecodeerd via internationale standaarden. Dit maakt het mogelijk om datasets van meerdere medische diensten samen te voegen en te vergelijken.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41732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417320"/>
            <a:ext cx="4114800" cy="5943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41732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Risico-thesaurus (PRESANSE -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Frankrijk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Interne coderingen per arbeidspreventiebedrijf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Bv. K.A.01 = Beeldschermwerk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Gestandaardiseerd zodat alle diensten dezelfde codes gebruiken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Maakt sectorvergelijking mogelijk (NACE × risico)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1148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Dataset bevat 2 345 unieke risico-codes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09160" y="1417320"/>
            <a:ext cx="411480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09160" y="1417320"/>
            <a:ext cx="4114800" cy="594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141732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ICD-10 (internationaal)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9204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International Classification of Diseases — versie 10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9204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WHO-standaard, wereldwijd gebruikt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Bv. M54.5 = Lage rugpijn, H52.1 = Myopie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9204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Maakt koppeling met andere medische datasets mogelijk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41148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Dataset bevat 5 864 unieke ICD-10 codes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4320" y="4617720"/>
            <a:ext cx="8595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466344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Meerwaarde voor de toekomst: door gestandaardiseerde codes kunnen meerdere medische diensten hun data samenvoegen voor grotere, betrouwbaardere analyses.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— Hoe de data tot stand is gekomen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Databronnen (MS SQL Server)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161288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1615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GENEmployees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377440" y="12161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Werknemers (geslacht, geboortedatum)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74320" y="1609344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166420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GENEmployeesCustomers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2377440" y="1664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Tewerkstelling per bedrijf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74320" y="2057400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11480" y="211226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GENCustomers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77440" y="211226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Klant-bedrijven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505456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256032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HAWCustomers + NACE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2377440" y="25603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NACE-sector van bedrijf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" y="2953512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11480" y="3008376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HAWRisks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2377440" y="300837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Risico's definitie + codes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" y="3401568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11480" y="3456432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HAWEmploymentRisks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377440" y="34564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 per tewerkstelling (+ periode)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74320" y="3849624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11480" y="3904488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HAWEmployeesClinical…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377440" y="3904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Medische onderzoeken + diagnose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4297680"/>
            <a:ext cx="4023360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1480" y="4352544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HAWICPC2Codes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377440" y="43525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 pathologie-codes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480560" y="804672"/>
            <a:ext cx="443484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80560" y="804672"/>
            <a:ext cx="4434840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0" y="8046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CFB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— vereenvoudigd uittreksel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480560" y="1188720"/>
            <a:ext cx="4434840" cy="3730752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572000" y="1207008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DISTINCT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572000" y="1440180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employee_sex,  employee_birthdate,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572000" y="1673352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nace_code,  employment_startdate,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0" y="1906524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risk_code,  risk_startdate,  risk_enddate,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572000" y="2139696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pathology_icd10code,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72000" y="2372868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pathology_startdate, pathology_enddate,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72000" y="2606040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DATEDIFF(yy, birthdate, startdate) AS leeftijd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4572000" y="2839212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GENEmployeesCustomers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572000" y="3072384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genemployees ON …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572000" y="3305556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hawcustomers ON …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72000" y="3538728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JOIN Nace ON …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572000" y="3771900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HAWEmploymentRisks ON …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0" y="4005072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HAWRisks ON …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572000" y="4238244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INNER JOIN HAWEmployeesClinical… ON …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572000" y="4471416"/>
            <a:ext cx="4251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JOIN HAWICPC2Codes ON …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opkuisen — Ongeldige codes wegfilteren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datamigratiesfouten in het verleden bevatten sommige rijen codes die geen echte risico-blootstelling voorstellen. Deze worden bij het inlezen weggefilterd.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71600"/>
            <a:ext cx="512064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371600"/>
            <a:ext cx="64008" cy="3474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02920" y="1463040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verwijderen risico-codes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18745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187452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63040" y="18745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463040" y="187452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23160" y="18745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23160" y="187452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83280" y="18745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83280" y="187452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SIR1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343400" y="187452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343400" y="187452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SIR2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237744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2920" y="23774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SIG_DECL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463040" y="237744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63040" y="23774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SIA_DECL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423160" y="237744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423160" y="23774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SIR_DECL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383280" y="237744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383280" y="23774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AUTRE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343400" y="2377440"/>
            <a:ext cx="868680" cy="347472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343400" y="2377440"/>
            <a:ext cx="868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SIR2_décl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02920" y="2944368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Reden: dit zijn administratieve markeringen van het onderzoekcategorie-systeem, geen echte gevaren op de werkvloer. Ze werden tijdens vroegere datamigratieprojecten abusievelijk als risico-codes opgeslagen.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577840" y="1371600"/>
            <a:ext cx="329184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5577840" y="1371600"/>
            <a:ext cx="64008" cy="3474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806440" y="1463040"/>
            <a:ext cx="2834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opkuising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806440" y="192024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1 254 667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5806440" y="23774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 vóór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806440" y="29077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970 917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 ná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06440" y="3895344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283 750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5806440" y="435254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verwijderd (22,6%)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480060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Overige opkuisstappen: ICD-10 spaties strippen · datums parsen · leeftijdsgroepen aanmaken · seizoenen berekenen · ongeldige leeftijden markeren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 — Correlaties Risico &amp; Pathologie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meest voorkomende risico–pathologie combinaties tonen logische medische verbanden.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188720"/>
          <a:ext cx="53035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5760720" y="1188720"/>
            <a:ext cx="315468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760720" y="1188720"/>
            <a:ext cx="64008" cy="3749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89320" y="128016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89320" y="16916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27648" y="1691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Beeldschermwerk is het meest voorkomende risico en correleert sterk met zichtproblemen.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989320" y="2295144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327648" y="2295144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Myopie bij jongeren en presbyopie bij ouderen — beide gelinkt aan schermwerk.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989320" y="2898648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🏋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327648" y="2898648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Manuele arbeid (lasten) → lage rugpijn is een verwacht en bevestigd verband.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989320" y="3502152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🔊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327648" y="350215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Blootstelling aan lawaai correleert met gehoorverlies zoals verwacht.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5989320" y="4105656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💡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27648" y="4105656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Verbanden zijn medisch logisch én kunnen preventiebeleid sturen.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 — Pathologieën per Leeftijdsgroep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van de top 5 pathologieën per leeftijdsgroep (10-jaarsstappen, leeftijden 16–65).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143000"/>
          <a:ext cx="566928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126480" y="1143000"/>
            <a:ext cx="2743200" cy="3794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126480" y="1143000"/>
            <a:ext cx="64008" cy="3794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355080" y="1234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Bevindingen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09360" y="1645920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656832" y="164592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Myopie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656832" y="183794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piekt bij 20–29 jaar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309360" y="2249424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🔍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656832" y="224942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Presbyopie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656832" y="244144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stijgt sterk na 40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309360" y="2852928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🏋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656832" y="285292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Lage rugpijn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656832" y="304495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piek 40–49 jaar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309360" y="3456432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🧠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656832" y="345643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Depressie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656832" y="364845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meest bij 40–49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309360" y="4059936"/>
            <a:ext cx="320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🤧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656832" y="4059936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Luchtweginf.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656832" y="425196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stabiel over leeftijd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 — Pathologieën per Seizoen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Bepaalde pathologieën vertonen een duidelijk seizoensgebonden patroon (≥70% van gevallen in één seizoen).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143000"/>
          <a:ext cx="5303520" cy="3794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5760720" y="1188720"/>
            <a:ext cx="3108960" cy="868680"/>
          </a:xfrm>
          <a:prstGeom prst="rect">
            <a:avLst/>
          </a:prstGeom>
          <a:solidFill>
            <a:srgbClr val="86EFAC">
              <a:alpha val="70000"/>
            </a:srgbClr>
          </a:solidFill>
          <a:ln w="6350">
            <a:solidFill>
              <a:srgbClr val="86EFAC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897880" y="123444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🌸 Lente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97880" y="152704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Piek aangeboren tuberculose (P37.0 — 100%)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760720" y="2148840"/>
            <a:ext cx="3108960" cy="868680"/>
          </a:xfrm>
          <a:prstGeom prst="rect">
            <a:avLst/>
          </a:prstGeom>
          <a:solidFill>
            <a:srgbClr val="FDE68A">
              <a:alpha val="70000"/>
            </a:srgbClr>
          </a:solidFill>
          <a:ln w="6350">
            <a:solidFill>
              <a:srgbClr val="FDE6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897880" y="21945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Zomer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897880" y="248716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Relatief rustig; myopie licht verhoogd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760720" y="3108960"/>
            <a:ext cx="3108960" cy="868680"/>
          </a:xfrm>
          <a:prstGeom prst="rect">
            <a:avLst/>
          </a:prstGeom>
          <a:solidFill>
            <a:srgbClr val="FCA5A5">
              <a:alpha val="70000"/>
            </a:srgbClr>
          </a:solidFill>
          <a:ln w="6350">
            <a:solidFill>
              <a:srgbClr val="FCA5A5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897880" y="315468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🍂 Herfst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897880" y="344728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Meningokokken (A39) en traumata pieken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760720" y="4069080"/>
            <a:ext cx="3108960" cy="868680"/>
          </a:xfrm>
          <a:prstGeom prst="rect">
            <a:avLst/>
          </a:prstGeom>
          <a:solidFill>
            <a:srgbClr val="BAE6FD">
              <a:alpha val="70000"/>
            </a:srgbClr>
          </a:solidFill>
          <a:ln w="6350">
            <a:solidFill>
              <a:srgbClr val="BAE6FD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897880" y="4114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Winter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897880" y="4407408"/>
            <a:ext cx="2834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Luchtweginfecties en depressie duidelijk hoger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-1012372" y="4812357"/>
            <a:ext cx="746542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bevat 76 seizoensgebonden pathologieën (drempel: ≥70%, min. 50 gevallen)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 — Risico's &amp; Pathologieën per NACE-sector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top 10 NACE-sectoren bevatten het merendeel van de werknemers. Beeldschermwerk domineert sectoroverschrijdend.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4320" y="1115568"/>
            <a:ext cx="4297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risico's per sector</a:t>
            </a:r>
            <a:endParaRPr lang="en-US" sz="9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274320" y="1417320"/>
          <a:ext cx="425196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4754880" y="1115568"/>
            <a:ext cx="4114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pathologieën per sector</a:t>
            </a:r>
            <a:endParaRPr lang="en-US" sz="95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663440" y="1417320"/>
          <a:ext cx="425196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 7"/>
          <p:cNvSpPr/>
          <p:nvPr/>
        </p:nvSpPr>
        <p:spPr>
          <a:xfrm>
            <a:off x="274320" y="4764024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Resultaten — Coronavirus B97.2 over tijd (2018–heden)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Evolutie van het maandelijks aantal vastgestelde gevallen van pathologie B97.2 (coronavirus als oorzaak van ziekte).</a:t>
            </a:r>
            <a:endParaRPr lang="en-US" sz="105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274320" y="1143000"/>
          <a:ext cx="594360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152144"/>
            <a:ext cx="25146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6400800" y="1143000"/>
            <a:ext cx="64008" cy="37490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629400" y="1234440"/>
            <a:ext cx="2057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Sleutelmomenten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29400" y="1664208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2020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629400" y="185623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Eerste COVID-19 golf in </a:t>
            </a:r>
            <a:r>
              <a:rPr lang="en-US" sz="9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Frankrijk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629400" y="2185416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2020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629400" y="2377440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Tweede golf — scherpe piek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629400" y="2627132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2021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629400" y="2819156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Delta-variant / omicron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629400" y="3148340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2022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629400" y="3340364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Omicron — hoogste piek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629400" y="3669548"/>
            <a:ext cx="2057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2023+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629400" y="3861572"/>
            <a:ext cx="2057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Normalisering, dalende trend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-662940" y="4802559"/>
            <a:ext cx="8321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Gebaseerd op pathology_startdate · ICD-10 code B97.2 · data per kwartaal</a:t>
            </a:r>
            <a:endParaRPr lang="en-US" sz="8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100147-CAF2-EA93-DEA1-105A41EFFE0E}"/>
              </a:ext>
            </a:extLst>
          </p:cNvPr>
          <p:cNvSpPr txBox="1"/>
          <p:nvPr/>
        </p:nvSpPr>
        <p:spPr>
          <a:xfrm>
            <a:off x="7067006" y="822960"/>
            <a:ext cx="2645228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https://www.datawrapper.de/_/RUjje/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C2E4A"/>
          </a:solidFill>
          <a:ln w="12700">
            <a:solidFill>
              <a:srgbClr val="1C2E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0"/>
            <a:ext cx="365760" cy="685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2004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Applicatie — Interactieve Data Exploratie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705088" y="0"/>
            <a:ext cx="365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77724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 de analyse is een interactieve webapplicatie gebouwd waarmee de data dynamisch verkend kan worden.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74320" y="118872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tabs — elk met eigen grafieken en filters: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572768"/>
            <a:ext cx="41148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572768"/>
            <a:ext cx="4114800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15727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Risico's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048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Top N meest voorkomende risico's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11480" y="23591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Filterbaar op tijdsperiode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26700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Actieve risico's (zonder einddatum)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572768"/>
            <a:ext cx="41148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709160" y="1572768"/>
            <a:ext cx="411480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15727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  Pathologieën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Top N meest voorkomende pathologieën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23591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ICD-10 codes met volledige omschrijving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46320" y="26700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Actieve pathologieën apart getoond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74320" y="3172968"/>
            <a:ext cx="41148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74320" y="3172968"/>
            <a:ext cx="4114800" cy="411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11480" y="31729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Combinaties &amp; Seizoenen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6484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Top N risico-pathologie combinaties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11480" y="39593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Seizoensgebonden pathologieën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42702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Instelbare drempel (70% / 80%)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09160" y="3172968"/>
            <a:ext cx="41148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09160" y="3172968"/>
            <a:ext cx="411480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46320" y="317296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 Demografie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0" y="36484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Pathologieën per geslacht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46320" y="39593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Per leeftijdsgroep (10-jaar stappen)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46320" y="42702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Man vs. Vrouw vergelijking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4320" y="4626864"/>
            <a:ext cx="85953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C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4360" y="36576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Conclusie &amp; Wat volgt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914400"/>
            <a:ext cx="36576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0515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CFB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Jaar 1 — bereikt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4630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Dataset opgesteld via MS SQL (1,16M+ rijen)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83794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Data ingelezen, opgeschoond en verrijkt in Python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21284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Interactieve Streamlit-applicatie gebouwd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877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Visualisaties: top 10, leeftijd, seizoen, NACE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962656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Correlaties risico–pathologie blootgelegd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3756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Historische periodeanalyse (1990–2000, 2000–2010)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712464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Coronavirus-evolutie (B97.2) in kaart gebracht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54880" y="105156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🔭  Jaar 2 — vooruitblik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46304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Predictiemodellen op basis van historische data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54880" y="1837944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Input: geslacht, leeftijd, risico's, sector, beroep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2212848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Tijdsdimensie: historiek risicoblootstelling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2587752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ML: classificatie van toekomstige pathologieën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54880" y="2962656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Integratie suggesties in Pulse/H@W-workflow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333756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  Artsen en verpleegkundigen proactief assisteren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0" y="1051560"/>
            <a:ext cx="0" cy="3200400"/>
          </a:xfrm>
          <a:prstGeom prst="line">
            <a:avLst/>
          </a:prstGeom>
          <a:noFill/>
          <a:ln w="12700">
            <a:solidFill>
              <a:srgbClr val="2E4A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46634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07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 of opmerkingen?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1499</Words>
  <Application>Microsoft Office PowerPoint</Application>
  <PresentationFormat>On-screen Show (16:9)</PresentationFormat>
  <Paragraphs>303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Eindwerk Data Science Jaar 1 — Resultaten</dc:title>
  <dc:subject>PptxGenJS Presentation</dc:subject>
  <dc:creator>Maxime Mylle</dc:creator>
  <cp:lastModifiedBy>Maxime Mylle</cp:lastModifiedBy>
  <cp:revision>4</cp:revision>
  <dcterms:created xsi:type="dcterms:W3CDTF">2026-04-20T09:48:11Z</dcterms:created>
  <dcterms:modified xsi:type="dcterms:W3CDTF">2026-04-20T14:50:59Z</dcterms:modified>
</cp:coreProperties>
</file>